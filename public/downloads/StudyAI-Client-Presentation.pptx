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B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4884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0" b="1">
                <a:solidFill>
                  <a:srgbClr val="FFFFFF"/>
                </a:solidFill>
                <a:latin typeface="Calibri"/>
              </a:rPr>
              <a:t>StudyAI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0">
                <a:solidFill>
                  <a:srgbClr val="E8E4DE"/>
                </a:solidFill>
                <a:latin typeface="Calibri"/>
              </a:rPr>
              <a:t>AI-Powered Teaching &amp; Learning Platform for Schools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41148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C2410C"/>
                </a:solidFill>
                <a:latin typeface="Calibri"/>
              </a:rPr>
              <a:t>Multi-tenant  ·  Role-based  ·  Built-in AI cost 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7607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6660"/>
                </a:solidFill>
                <a:latin typeface="Calibri"/>
              </a:rPr>
              <a:t>Product walkthrough — live application screenshots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C1B19"/>
                </a:solidFill>
                <a:latin typeface="Calibri"/>
              </a:rPr>
              <a:t>What StudyAI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6B6660"/>
                </a:solidFill>
                <a:latin typeface="Calibri"/>
              </a:rPr>
              <a:t>One platform connecting school administration, teaching, and student learning.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2615184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941832" y="2121408"/>
            <a:ext cx="457200" cy="50292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2395728"/>
            <a:ext cx="2103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C1B19"/>
                </a:solidFill>
                <a:latin typeface="Calibri"/>
              </a:rPr>
              <a:t>Schools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907792"/>
            <a:ext cx="21031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6B6660"/>
                </a:solidFill>
                <a:latin typeface="Calibri"/>
              </a:rPr>
              <a:t>Run many schools from a single platform. Each is fully isolated with its own staff, classes, subjects and terms.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02152" y="1828800"/>
            <a:ext cx="2615184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3758184" y="2121408"/>
            <a:ext cx="457200" cy="50292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58184" y="2395728"/>
            <a:ext cx="2103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C1B19"/>
                </a:solidFill>
                <a:latin typeface="Calibri"/>
              </a:rPr>
              <a:t>Teachers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58184" y="2907792"/>
            <a:ext cx="21031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6B6660"/>
                </a:solidFill>
                <a:latin typeface="Calibri"/>
              </a:rPr>
              <a:t>Turn any teaching material into flashcards, questions and study guides with AI — then review before publishing.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18504" y="1828800"/>
            <a:ext cx="2615184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574536" y="2121408"/>
            <a:ext cx="457200" cy="50292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74536" y="2395728"/>
            <a:ext cx="2103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C1B19"/>
                </a:solidFill>
                <a:latin typeface="Calibri"/>
              </a:rPr>
              <a:t>Students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74536" y="2907792"/>
            <a:ext cx="21031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6B6660"/>
                </a:solidFill>
                <a:latin typeface="Calibri"/>
              </a:rPr>
              <a:t>Personal dashboard with classes, exams and spaced-repetition flashcards that adapt to what they get wrong.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34856" y="1828800"/>
            <a:ext cx="2615184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9390888" y="2121408"/>
            <a:ext cx="457200" cy="50292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90888" y="2395728"/>
            <a:ext cx="2103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C1B19"/>
                </a:solidFill>
                <a:latin typeface="Calibri"/>
              </a:rPr>
              <a:t>Oversight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90888" y="2907792"/>
            <a:ext cx="21031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6B6660"/>
                </a:solidFill>
                <a:latin typeface="Calibri"/>
              </a:rPr>
              <a:t>Every AI request is metered per teacher and per school, with budgets and hard limits set centrally.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6660"/>
                </a:solidFill>
                <a:latin typeface="Calibri"/>
              </a:rPr>
              <a:t>StudyAI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1153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666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C1B19"/>
                </a:solidFill>
                <a:latin typeface="Calibri"/>
              </a:rPr>
              <a:t>Four Roles, One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6B6660"/>
                </a:solidFill>
                <a:latin typeface="Calibri"/>
              </a:rPr>
              <a:t>Each person signs in and lands directly in the workspace built for their job.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74519"/>
            <a:ext cx="10789920" cy="9326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914400" y="2075687"/>
            <a:ext cx="1920240" cy="530352"/>
          </a:xfrm>
          <a:prstGeom prst="roundRect">
            <a:avLst>
              <a:gd name="adj" fmla="val 22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50" b="1">
                <a:solidFill>
                  <a:srgbClr val="FFFFFF"/>
                </a:solidFill>
              </a:rPr>
              <a:t>Super Admin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2057399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C1B19"/>
                </a:solidFill>
                <a:latin typeface="Calibri"/>
              </a:rPr>
              <a:t>Platform owner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2386583"/>
            <a:ext cx="8138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B6660"/>
                </a:solidFill>
                <a:latin typeface="Calibri"/>
              </a:rPr>
              <a:t>Schools · AI providers · Token budgets · Cross-school analytics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971799"/>
            <a:ext cx="10789920" cy="9326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914400" y="3172967"/>
            <a:ext cx="1920240" cy="530352"/>
          </a:xfrm>
          <a:prstGeom prst="roundRect">
            <a:avLst>
              <a:gd name="adj" fmla="val 22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50" b="1">
                <a:solidFill>
                  <a:srgbClr val="FFFFFF"/>
                </a:solidFill>
              </a:rPr>
              <a:t>School Admin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3154679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C1B19"/>
                </a:solidFill>
                <a:latin typeface="Calibri"/>
              </a:rPr>
              <a:t>Head / registrar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3483863"/>
            <a:ext cx="8138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B6660"/>
                </a:solidFill>
                <a:latin typeface="Calibri"/>
              </a:rPr>
              <a:t>Members · Classes · Subjects · Terms · School analytics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069079"/>
            <a:ext cx="10789920" cy="9326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914400" y="4270247"/>
            <a:ext cx="1920240" cy="530352"/>
          </a:xfrm>
          <a:prstGeom prst="roundRect">
            <a:avLst>
              <a:gd name="adj" fmla="val 22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50" b="1">
                <a:solidFill>
                  <a:srgbClr val="FFFFFF"/>
                </a:solidFill>
              </a:rPr>
              <a:t>Teacher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4251959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C1B19"/>
                </a:solidFill>
                <a:latin typeface="Calibri"/>
              </a:rPr>
              <a:t>Classroom staff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4581143"/>
            <a:ext cx="8138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B6660"/>
                </a:solidFill>
                <a:latin typeface="Calibri"/>
              </a:rPr>
              <a:t>Classes · Materials · AI generation · Exams · Question bank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5166359"/>
            <a:ext cx="10789920" cy="9326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914400" y="5367527"/>
            <a:ext cx="1920240" cy="530352"/>
          </a:xfrm>
          <a:prstGeom prst="roundRect">
            <a:avLst>
              <a:gd name="adj" fmla="val 22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50" b="1">
                <a:solidFill>
                  <a:srgbClr val="FFFFFF"/>
                </a:solidFill>
              </a:rPr>
              <a:t>Student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3240" y="5349239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C1B19"/>
                </a:solidFill>
                <a:latin typeface="Calibri"/>
              </a:rPr>
              <a:t>Learner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3240" y="5678423"/>
            <a:ext cx="8138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B6660"/>
                </a:solidFill>
                <a:latin typeface="Calibri"/>
              </a:rPr>
              <a:t>Dashboard · Classes · Exams · Flashcards · Study tools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6660"/>
                </a:solidFill>
                <a:latin typeface="Calibri"/>
              </a:rPr>
              <a:t>StudyAI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1153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666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B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8892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Calibri"/>
              </a:rPr>
              <a:t>Platform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37033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C2410C"/>
                </a:solidFill>
                <a:latin typeface="Calibri"/>
              </a:rPr>
              <a:t>Live screens from the working application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C1B19"/>
                </a:solidFill>
                <a:latin typeface="Calibri"/>
              </a:rPr>
              <a:t>Platform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2410C"/>
                </a:solidFill>
                <a:latin typeface="Calibri"/>
              </a:rPr>
              <a:t>Super Admin — the whole estate at a glance</a:t>
            </a:r>
          </a:p>
        </p:txBody>
      </p:sp>
      <p:sp>
        <p:nvSpPr>
          <p:cNvPr id="5" name="Oval 4"/>
          <p:cNvSpPr/>
          <p:nvPr/>
        </p:nvSpPr>
        <p:spPr>
          <a:xfrm>
            <a:off x="9281160" y="1572768"/>
            <a:ext cx="77724" cy="77724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64040" y="1481328"/>
            <a:ext cx="221284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660"/>
                </a:solidFill>
                <a:latin typeface="Calibri"/>
              </a:rPr>
              <a:t>Every school, user, material and exam counted in one view.</a:t>
            </a:r>
          </a:p>
        </p:txBody>
      </p:sp>
      <p:sp>
        <p:nvSpPr>
          <p:cNvPr id="7" name="Oval 6"/>
          <p:cNvSpPr/>
          <p:nvPr/>
        </p:nvSpPr>
        <p:spPr>
          <a:xfrm>
            <a:off x="9281160" y="2505456"/>
            <a:ext cx="77724" cy="77724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64040" y="2414016"/>
            <a:ext cx="221284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660"/>
                </a:solidFill>
                <a:latin typeface="Calibri"/>
              </a:rPr>
              <a:t>Tabbed workspace: analytics, token usage, limits, providers.</a:t>
            </a:r>
          </a:p>
        </p:txBody>
      </p:sp>
      <p:sp>
        <p:nvSpPr>
          <p:cNvPr id="9" name="Oval 8"/>
          <p:cNvSpPr/>
          <p:nvPr/>
        </p:nvSpPr>
        <p:spPr>
          <a:xfrm>
            <a:off x="9281160" y="3438144"/>
            <a:ext cx="77724" cy="77724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64040" y="3346704"/>
            <a:ext cx="221284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660"/>
                </a:solidFill>
                <a:latin typeface="Calibri"/>
              </a:rPr>
              <a:t>New schools are onboarded without touching code.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9788" y="1982343"/>
            <a:ext cx="8604504" cy="376199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super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32635"/>
            <a:ext cx="8503920" cy="366141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6660"/>
                </a:solidFill>
                <a:latin typeface="Calibri"/>
              </a:rPr>
              <a:t>StudyAI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1153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666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C1B19"/>
                </a:solidFill>
                <a:latin typeface="Calibri"/>
              </a:rPr>
              <a:t>Schools &amp; Tenants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2410C"/>
                </a:solidFill>
                <a:latin typeface="Calibri"/>
              </a:rPr>
              <a:t>Super Admin — multi-tenant management</a:t>
            </a:r>
          </a:p>
        </p:txBody>
      </p:sp>
      <p:sp>
        <p:nvSpPr>
          <p:cNvPr id="5" name="Oval 4"/>
          <p:cNvSpPr/>
          <p:nvPr/>
        </p:nvSpPr>
        <p:spPr>
          <a:xfrm>
            <a:off x="9281160" y="1572768"/>
            <a:ext cx="77724" cy="77724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64040" y="1481328"/>
            <a:ext cx="221284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660"/>
                </a:solidFill>
                <a:latin typeface="Calibri"/>
              </a:rPr>
              <a:t>Each school is an isolated tenant with its own members and data.</a:t>
            </a:r>
          </a:p>
        </p:txBody>
      </p:sp>
      <p:sp>
        <p:nvSpPr>
          <p:cNvPr id="7" name="Oval 6"/>
          <p:cNvSpPr/>
          <p:nvPr/>
        </p:nvSpPr>
        <p:spPr>
          <a:xfrm>
            <a:off x="9281160" y="2505456"/>
            <a:ext cx="77724" cy="77724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64040" y="2414016"/>
            <a:ext cx="221284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660"/>
                </a:solidFill>
                <a:latin typeface="Calibri"/>
              </a:rPr>
              <a:t>Add a school and assign its administrator in one step.</a:t>
            </a:r>
          </a:p>
        </p:txBody>
      </p:sp>
      <p:sp>
        <p:nvSpPr>
          <p:cNvPr id="9" name="Oval 8"/>
          <p:cNvSpPr/>
          <p:nvPr/>
        </p:nvSpPr>
        <p:spPr>
          <a:xfrm>
            <a:off x="9281160" y="3438144"/>
            <a:ext cx="77724" cy="77724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64040" y="3346704"/>
            <a:ext cx="221284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660"/>
                </a:solidFill>
                <a:latin typeface="Calibri"/>
              </a:rPr>
              <a:t>Scales from a single campus to a whole group.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9788" y="1982343"/>
            <a:ext cx="8604504" cy="376199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super-schoo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32635"/>
            <a:ext cx="8503920" cy="366141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6660"/>
                </a:solidFill>
                <a:latin typeface="Calibri"/>
              </a:rPr>
              <a:t>StudyAI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1153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666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C1B19"/>
                </a:solidFill>
                <a:latin typeface="Calibri"/>
              </a:rPr>
              <a:t>AI Providers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2410C"/>
                </a:solidFill>
                <a:latin typeface="Calibri"/>
              </a:rPr>
              <a:t>Super Admin — swappable AI back-ends</a:t>
            </a:r>
          </a:p>
        </p:txBody>
      </p:sp>
      <p:sp>
        <p:nvSpPr>
          <p:cNvPr id="5" name="Oval 4"/>
          <p:cNvSpPr/>
          <p:nvPr/>
        </p:nvSpPr>
        <p:spPr>
          <a:xfrm>
            <a:off x="9281160" y="1572768"/>
            <a:ext cx="77724" cy="77724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64040" y="1481328"/>
            <a:ext cx="221284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660"/>
                </a:solidFill>
                <a:latin typeface="Calibri"/>
              </a:rPr>
              <a:t>Configure which AI provider and model the platform uses.</a:t>
            </a:r>
          </a:p>
        </p:txBody>
      </p:sp>
      <p:sp>
        <p:nvSpPr>
          <p:cNvPr id="7" name="Oval 6"/>
          <p:cNvSpPr/>
          <p:nvPr/>
        </p:nvSpPr>
        <p:spPr>
          <a:xfrm>
            <a:off x="9281160" y="2505456"/>
            <a:ext cx="77724" cy="77724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64040" y="2414016"/>
            <a:ext cx="221284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660"/>
                </a:solidFill>
                <a:latin typeface="Calibri"/>
              </a:rPr>
              <a:t>Swap providers without redeploying the application.</a:t>
            </a:r>
          </a:p>
        </p:txBody>
      </p:sp>
      <p:sp>
        <p:nvSpPr>
          <p:cNvPr id="9" name="Oval 8"/>
          <p:cNvSpPr/>
          <p:nvPr/>
        </p:nvSpPr>
        <p:spPr>
          <a:xfrm>
            <a:off x="9281160" y="3438144"/>
            <a:ext cx="77724" cy="77724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64040" y="3346704"/>
            <a:ext cx="221284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660"/>
                </a:solidFill>
                <a:latin typeface="Calibri"/>
              </a:rPr>
              <a:t>Keeps the school in control of cost and data residency.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9788" y="1982343"/>
            <a:ext cx="8604504" cy="376199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super-ai-provid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32635"/>
            <a:ext cx="8503920" cy="366141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6660"/>
                </a:solidFill>
                <a:latin typeface="Calibri"/>
              </a:rPr>
              <a:t>StudyAI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1153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666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C1B19"/>
                </a:solidFill>
                <a:latin typeface="Calibri"/>
              </a:rPr>
              <a:t>AI Usage &amp; Cost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2410C"/>
                </a:solidFill>
                <a:latin typeface="Calibri"/>
              </a:rPr>
              <a:t>Super Admin — every request metered</a:t>
            </a:r>
          </a:p>
        </p:txBody>
      </p:sp>
      <p:sp>
        <p:nvSpPr>
          <p:cNvPr id="5" name="Oval 4"/>
          <p:cNvSpPr/>
          <p:nvPr/>
        </p:nvSpPr>
        <p:spPr>
          <a:xfrm>
            <a:off x="9281160" y="1572768"/>
            <a:ext cx="77724" cy="77724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64040" y="1481328"/>
            <a:ext cx="221284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660"/>
                </a:solidFill>
                <a:latin typeface="Calibri"/>
              </a:rPr>
              <a:t>Token consumption and spend tracked per day and per operation.</a:t>
            </a:r>
          </a:p>
        </p:txBody>
      </p:sp>
      <p:sp>
        <p:nvSpPr>
          <p:cNvPr id="7" name="Oval 6"/>
          <p:cNvSpPr/>
          <p:nvPr/>
        </p:nvSpPr>
        <p:spPr>
          <a:xfrm>
            <a:off x="9281160" y="2505456"/>
            <a:ext cx="77724" cy="77724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64040" y="2414016"/>
            <a:ext cx="221284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660"/>
                </a:solidFill>
                <a:latin typeface="Calibri"/>
              </a:rPr>
              <a:t>Attribute cost to the exact school, teacher and feature.</a:t>
            </a:r>
          </a:p>
        </p:txBody>
      </p:sp>
      <p:sp>
        <p:nvSpPr>
          <p:cNvPr id="9" name="Oval 8"/>
          <p:cNvSpPr/>
          <p:nvPr/>
        </p:nvSpPr>
        <p:spPr>
          <a:xfrm>
            <a:off x="9281160" y="3438144"/>
            <a:ext cx="77724" cy="77724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64040" y="3346704"/>
            <a:ext cx="221284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660"/>
                </a:solidFill>
                <a:latin typeface="Calibri"/>
              </a:rPr>
              <a:t>Turns AI from an open-ended bill into a managed budget.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9788" y="1982343"/>
            <a:ext cx="8604504" cy="376199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super-token-us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32635"/>
            <a:ext cx="8503920" cy="366141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6660"/>
                </a:solidFill>
                <a:latin typeface="Calibri"/>
              </a:rPr>
              <a:t>StudyAI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1153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666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C1B19"/>
                </a:solidFill>
                <a:latin typeface="Calibri"/>
              </a:rPr>
              <a:t>Token Limits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2410C"/>
                </a:solidFill>
                <a:latin typeface="Calibri"/>
              </a:rPr>
              <a:t>Super Admin — hard budget ceilings</a:t>
            </a:r>
          </a:p>
        </p:txBody>
      </p:sp>
      <p:sp>
        <p:nvSpPr>
          <p:cNvPr id="5" name="Oval 4"/>
          <p:cNvSpPr/>
          <p:nvPr/>
        </p:nvSpPr>
        <p:spPr>
          <a:xfrm>
            <a:off x="9281160" y="1572768"/>
            <a:ext cx="77724" cy="77724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64040" y="1481328"/>
            <a:ext cx="221284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660"/>
                </a:solidFill>
                <a:latin typeface="Calibri"/>
              </a:rPr>
              <a:t>Set a default monthly allowance for every teacher.</a:t>
            </a:r>
          </a:p>
        </p:txBody>
      </p:sp>
      <p:sp>
        <p:nvSpPr>
          <p:cNvPr id="7" name="Oval 6"/>
          <p:cNvSpPr/>
          <p:nvPr/>
        </p:nvSpPr>
        <p:spPr>
          <a:xfrm>
            <a:off x="9281160" y="2505456"/>
            <a:ext cx="77724" cy="77724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64040" y="2414016"/>
            <a:ext cx="221284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660"/>
                </a:solidFill>
                <a:latin typeface="Calibri"/>
              </a:rPr>
              <a:t>Override per individual where more capacity is justified.</a:t>
            </a:r>
          </a:p>
        </p:txBody>
      </p:sp>
      <p:sp>
        <p:nvSpPr>
          <p:cNvPr id="9" name="Oval 8"/>
          <p:cNvSpPr/>
          <p:nvPr/>
        </p:nvSpPr>
        <p:spPr>
          <a:xfrm>
            <a:off x="9281160" y="3438144"/>
            <a:ext cx="77724" cy="77724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64040" y="3346704"/>
            <a:ext cx="221284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660"/>
                </a:solidFill>
                <a:latin typeface="Calibri"/>
              </a:rPr>
              <a:t>Prevents runaway AI spend before it happens.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9788" y="1982343"/>
            <a:ext cx="8604504" cy="376199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super-token-lim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32635"/>
            <a:ext cx="8503920" cy="366141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6660"/>
                </a:solidFill>
                <a:latin typeface="Calibri"/>
              </a:rPr>
              <a:t>StudyAI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1153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666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C1B19"/>
                </a:solidFill>
                <a:latin typeface="Calibri"/>
              </a:rPr>
              <a:t>Platform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2410C"/>
                </a:solidFill>
                <a:latin typeface="Calibri"/>
              </a:rPr>
              <a:t>Super Admin — cross-school reporting</a:t>
            </a:r>
          </a:p>
        </p:txBody>
      </p:sp>
      <p:sp>
        <p:nvSpPr>
          <p:cNvPr id="5" name="Oval 4"/>
          <p:cNvSpPr/>
          <p:nvPr/>
        </p:nvSpPr>
        <p:spPr>
          <a:xfrm>
            <a:off x="9281160" y="1572768"/>
            <a:ext cx="77724" cy="77724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64040" y="1481328"/>
            <a:ext cx="221284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660"/>
                </a:solidFill>
                <a:latin typeface="Calibri"/>
              </a:rPr>
              <a:t>Compare activity and outcomes across every school.</a:t>
            </a:r>
          </a:p>
        </p:txBody>
      </p:sp>
      <p:sp>
        <p:nvSpPr>
          <p:cNvPr id="7" name="Oval 6"/>
          <p:cNvSpPr/>
          <p:nvPr/>
        </p:nvSpPr>
        <p:spPr>
          <a:xfrm>
            <a:off x="9281160" y="2505456"/>
            <a:ext cx="77724" cy="77724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64040" y="2414016"/>
            <a:ext cx="221284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660"/>
                </a:solidFill>
                <a:latin typeface="Calibri"/>
              </a:rPr>
              <a:t>Spot which institutions are actively adopting the platform.</a:t>
            </a:r>
          </a:p>
        </p:txBody>
      </p:sp>
      <p:sp>
        <p:nvSpPr>
          <p:cNvPr id="9" name="Oval 8"/>
          <p:cNvSpPr/>
          <p:nvPr/>
        </p:nvSpPr>
        <p:spPr>
          <a:xfrm>
            <a:off x="9281160" y="3438144"/>
            <a:ext cx="77724" cy="77724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64040" y="3346704"/>
            <a:ext cx="221284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660"/>
                </a:solidFill>
                <a:latin typeface="Calibri"/>
              </a:rPr>
              <a:t>Evidence for renewals and expansion conversations.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9788" y="1819942"/>
            <a:ext cx="8604504" cy="40867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super-ana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70234"/>
            <a:ext cx="8503920" cy="398621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6660"/>
                </a:solidFill>
                <a:latin typeface="Calibri"/>
              </a:rPr>
              <a:t>StudyAI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1153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666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B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8892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Calibri"/>
              </a:rPr>
              <a:t>School Administration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37033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C2410C"/>
                </a:solidFill>
                <a:latin typeface="Calibri"/>
              </a:rPr>
              <a:t>Live screens from the working application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C1B19"/>
                </a:solidFill>
                <a:latin typeface="Calibri"/>
              </a:rPr>
              <a:t>School Admin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2410C"/>
                </a:solidFill>
                <a:latin typeface="Calibri"/>
              </a:rPr>
              <a:t>School Admin — daily operational view</a:t>
            </a:r>
          </a:p>
        </p:txBody>
      </p:sp>
      <p:sp>
        <p:nvSpPr>
          <p:cNvPr id="5" name="Oval 4"/>
          <p:cNvSpPr/>
          <p:nvPr/>
        </p:nvSpPr>
        <p:spPr>
          <a:xfrm>
            <a:off x="9281160" y="1572768"/>
            <a:ext cx="77724" cy="77724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64040" y="1481328"/>
            <a:ext cx="221284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660"/>
                </a:solidFill>
                <a:latin typeface="Calibri"/>
              </a:rPr>
              <a:t>Headline numbers for staff, students, classes and exams.</a:t>
            </a:r>
          </a:p>
        </p:txBody>
      </p:sp>
      <p:sp>
        <p:nvSpPr>
          <p:cNvPr id="7" name="Oval 6"/>
          <p:cNvSpPr/>
          <p:nvPr/>
        </p:nvSpPr>
        <p:spPr>
          <a:xfrm>
            <a:off x="9281160" y="2505456"/>
            <a:ext cx="77724" cy="77724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64040" y="2414016"/>
            <a:ext cx="221284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660"/>
                </a:solidFill>
                <a:latin typeface="Calibri"/>
              </a:rPr>
              <a:t>Immediate entry points into the day's admin tasks.</a:t>
            </a:r>
          </a:p>
        </p:txBody>
      </p:sp>
      <p:sp>
        <p:nvSpPr>
          <p:cNvPr id="9" name="Oval 8"/>
          <p:cNvSpPr/>
          <p:nvPr/>
        </p:nvSpPr>
        <p:spPr>
          <a:xfrm>
            <a:off x="9281160" y="3438144"/>
            <a:ext cx="77724" cy="77724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64040" y="3346704"/>
            <a:ext cx="221284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660"/>
                </a:solidFill>
                <a:latin typeface="Calibri"/>
              </a:rPr>
              <a:t>Scoped strictly to that administrator's own school.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9788" y="1982343"/>
            <a:ext cx="8604504" cy="376199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admin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32635"/>
            <a:ext cx="8503920" cy="366141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6660"/>
                </a:solidFill>
                <a:latin typeface="Calibri"/>
              </a:rPr>
              <a:t>StudyAI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1153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666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C1B19"/>
                </a:solidFill>
                <a:latin typeface="Calibri"/>
              </a:rPr>
              <a:t>Staff &amp; Student Directory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2410C"/>
                </a:solidFill>
                <a:latin typeface="Calibri"/>
              </a:rPr>
              <a:t>School Admin — people management</a:t>
            </a:r>
          </a:p>
        </p:txBody>
      </p:sp>
      <p:sp>
        <p:nvSpPr>
          <p:cNvPr id="5" name="Oval 4"/>
          <p:cNvSpPr/>
          <p:nvPr/>
        </p:nvSpPr>
        <p:spPr>
          <a:xfrm>
            <a:off x="9281160" y="1572768"/>
            <a:ext cx="77724" cy="77724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64040" y="1481328"/>
            <a:ext cx="221284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660"/>
                </a:solidFill>
                <a:latin typeface="Calibri"/>
              </a:rPr>
              <a:t>Invite staff and students individually or in bulk.</a:t>
            </a:r>
          </a:p>
        </p:txBody>
      </p:sp>
      <p:sp>
        <p:nvSpPr>
          <p:cNvPr id="7" name="Oval 6"/>
          <p:cNvSpPr/>
          <p:nvPr/>
        </p:nvSpPr>
        <p:spPr>
          <a:xfrm>
            <a:off x="9281160" y="2505456"/>
            <a:ext cx="77724" cy="77724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64040" y="2414016"/>
            <a:ext cx="221284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660"/>
                </a:solidFill>
                <a:latin typeface="Calibri"/>
              </a:rPr>
              <a:t>Assign and change roles with immediate effect.</a:t>
            </a:r>
          </a:p>
        </p:txBody>
      </p:sp>
      <p:sp>
        <p:nvSpPr>
          <p:cNvPr id="9" name="Oval 8"/>
          <p:cNvSpPr/>
          <p:nvPr/>
        </p:nvSpPr>
        <p:spPr>
          <a:xfrm>
            <a:off x="9281160" y="3438144"/>
            <a:ext cx="77724" cy="77724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64040" y="3346704"/>
            <a:ext cx="221284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660"/>
                </a:solidFill>
                <a:latin typeface="Calibri"/>
              </a:rPr>
              <a:t>Remove leavers cleanly, preserving academic records.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9788" y="1982343"/>
            <a:ext cx="8604504" cy="376199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admin-memb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32635"/>
            <a:ext cx="8503920" cy="366141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6660"/>
                </a:solidFill>
                <a:latin typeface="Calibri"/>
              </a:rPr>
              <a:t>StudyAI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1153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666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C1B19"/>
                </a:solidFill>
                <a:latin typeface="Calibri"/>
              </a:rPr>
              <a:t>Class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2410C"/>
                </a:solidFill>
                <a:latin typeface="Calibri"/>
              </a:rPr>
              <a:t>School Admin — timetable structure</a:t>
            </a:r>
          </a:p>
        </p:txBody>
      </p:sp>
      <p:sp>
        <p:nvSpPr>
          <p:cNvPr id="5" name="Oval 4"/>
          <p:cNvSpPr/>
          <p:nvPr/>
        </p:nvSpPr>
        <p:spPr>
          <a:xfrm>
            <a:off x="9281160" y="1572768"/>
            <a:ext cx="77724" cy="77724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64040" y="1481328"/>
            <a:ext cx="221284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660"/>
                </a:solidFill>
                <a:latin typeface="Calibri"/>
              </a:rPr>
              <a:t>Create classes and assign the responsible teacher.</a:t>
            </a:r>
          </a:p>
        </p:txBody>
      </p:sp>
      <p:sp>
        <p:nvSpPr>
          <p:cNvPr id="7" name="Oval 6"/>
          <p:cNvSpPr/>
          <p:nvPr/>
        </p:nvSpPr>
        <p:spPr>
          <a:xfrm>
            <a:off x="9281160" y="2505456"/>
            <a:ext cx="77724" cy="77724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64040" y="2414016"/>
            <a:ext cx="221284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660"/>
                </a:solidFill>
                <a:latin typeface="Calibri"/>
              </a:rPr>
              <a:t>Enrol students directly or issue invite codes.</a:t>
            </a:r>
          </a:p>
        </p:txBody>
      </p:sp>
      <p:sp>
        <p:nvSpPr>
          <p:cNvPr id="9" name="Oval 8"/>
          <p:cNvSpPr/>
          <p:nvPr/>
        </p:nvSpPr>
        <p:spPr>
          <a:xfrm>
            <a:off x="9281160" y="3438144"/>
            <a:ext cx="77724" cy="77724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64040" y="3346704"/>
            <a:ext cx="221284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660"/>
                </a:solidFill>
                <a:latin typeface="Calibri"/>
              </a:rPr>
              <a:t>Class rosters flow straight through to exams and materials.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9788" y="1982343"/>
            <a:ext cx="8604504" cy="376199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admin-clas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32635"/>
            <a:ext cx="8503920" cy="366141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6660"/>
                </a:solidFill>
                <a:latin typeface="Calibri"/>
              </a:rPr>
              <a:t>StudyAI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1153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666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C1B19"/>
                </a:solidFill>
                <a:latin typeface="Calibri"/>
              </a:rPr>
              <a:t>Subjects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2410C"/>
                </a:solidFill>
                <a:latin typeface="Calibri"/>
              </a:rPr>
              <a:t>School Admin — curriculum structure</a:t>
            </a:r>
          </a:p>
        </p:txBody>
      </p:sp>
      <p:sp>
        <p:nvSpPr>
          <p:cNvPr id="5" name="Oval 4"/>
          <p:cNvSpPr/>
          <p:nvPr/>
        </p:nvSpPr>
        <p:spPr>
          <a:xfrm>
            <a:off x="9281160" y="1572768"/>
            <a:ext cx="77724" cy="77724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64040" y="1481328"/>
            <a:ext cx="221284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660"/>
                </a:solidFill>
                <a:latin typeface="Calibri"/>
              </a:rPr>
              <a:t>Define the subject list that classes and questions map to.</a:t>
            </a:r>
          </a:p>
        </p:txBody>
      </p:sp>
      <p:sp>
        <p:nvSpPr>
          <p:cNvPr id="7" name="Oval 6"/>
          <p:cNvSpPr/>
          <p:nvPr/>
        </p:nvSpPr>
        <p:spPr>
          <a:xfrm>
            <a:off x="9281160" y="2505456"/>
            <a:ext cx="77724" cy="77724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64040" y="2414016"/>
            <a:ext cx="221284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660"/>
                </a:solidFill>
                <a:latin typeface="Calibri"/>
              </a:rPr>
              <a:t>Consistent tagging makes the question bank searchable.</a:t>
            </a:r>
          </a:p>
        </p:txBody>
      </p:sp>
      <p:sp>
        <p:nvSpPr>
          <p:cNvPr id="9" name="Oval 8"/>
          <p:cNvSpPr/>
          <p:nvPr/>
        </p:nvSpPr>
        <p:spPr>
          <a:xfrm>
            <a:off x="9281160" y="3438144"/>
            <a:ext cx="77724" cy="77724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64040" y="3346704"/>
            <a:ext cx="221284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660"/>
                </a:solidFill>
                <a:latin typeface="Calibri"/>
              </a:rPr>
              <a:t>Mirrors how the school already organises its curriculum.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9788" y="1982343"/>
            <a:ext cx="8604504" cy="376199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admin-subje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32635"/>
            <a:ext cx="8503920" cy="366141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6660"/>
                </a:solidFill>
                <a:latin typeface="Calibri"/>
              </a:rPr>
              <a:t>StudyAI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1153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6660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C1B19"/>
                </a:solidFill>
                <a:latin typeface="Calibri"/>
              </a:rPr>
              <a:t>Academic Terms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2410C"/>
                </a:solidFill>
                <a:latin typeface="Calibri"/>
              </a:rPr>
              <a:t>School Admin — the school calendar</a:t>
            </a:r>
          </a:p>
        </p:txBody>
      </p:sp>
      <p:sp>
        <p:nvSpPr>
          <p:cNvPr id="5" name="Oval 4"/>
          <p:cNvSpPr/>
          <p:nvPr/>
        </p:nvSpPr>
        <p:spPr>
          <a:xfrm>
            <a:off x="9281160" y="1572768"/>
            <a:ext cx="77724" cy="77724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64040" y="1481328"/>
            <a:ext cx="221284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660"/>
                </a:solidFill>
                <a:latin typeface="Calibri"/>
              </a:rPr>
              <a:t>Define terms with start and end dates, and mark the active one.</a:t>
            </a:r>
          </a:p>
        </p:txBody>
      </p:sp>
      <p:sp>
        <p:nvSpPr>
          <p:cNvPr id="7" name="Oval 6"/>
          <p:cNvSpPr/>
          <p:nvPr/>
        </p:nvSpPr>
        <p:spPr>
          <a:xfrm>
            <a:off x="9281160" y="2505456"/>
            <a:ext cx="77724" cy="77724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64040" y="2414016"/>
            <a:ext cx="221284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660"/>
                </a:solidFill>
                <a:latin typeface="Calibri"/>
              </a:rPr>
              <a:t>Academic activity is reported against the correct period.</a:t>
            </a:r>
          </a:p>
        </p:txBody>
      </p:sp>
      <p:sp>
        <p:nvSpPr>
          <p:cNvPr id="9" name="Oval 8"/>
          <p:cNvSpPr/>
          <p:nvPr/>
        </p:nvSpPr>
        <p:spPr>
          <a:xfrm>
            <a:off x="9281160" y="3438144"/>
            <a:ext cx="77724" cy="77724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64040" y="3346704"/>
            <a:ext cx="221284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660"/>
                </a:solidFill>
                <a:latin typeface="Calibri"/>
              </a:rPr>
              <a:t>Supports year-on-year comparison.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9788" y="1982343"/>
            <a:ext cx="8604504" cy="376199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admin-ter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32635"/>
            <a:ext cx="8503920" cy="366141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6660"/>
                </a:solidFill>
                <a:latin typeface="Calibri"/>
              </a:rPr>
              <a:t>StudyAI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1153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6660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C1B19"/>
                </a:solidFill>
                <a:latin typeface="Calibri"/>
              </a:rPr>
              <a:t>School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2410C"/>
                </a:solidFill>
                <a:latin typeface="Calibri"/>
              </a:rPr>
              <a:t>School Admin — performance insight</a:t>
            </a:r>
          </a:p>
        </p:txBody>
      </p:sp>
      <p:sp>
        <p:nvSpPr>
          <p:cNvPr id="5" name="Oval 4"/>
          <p:cNvSpPr/>
          <p:nvPr/>
        </p:nvSpPr>
        <p:spPr>
          <a:xfrm>
            <a:off x="9281160" y="1572768"/>
            <a:ext cx="77724" cy="77724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64040" y="1481328"/>
            <a:ext cx="221284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660"/>
                </a:solidFill>
                <a:latin typeface="Calibri"/>
              </a:rPr>
              <a:t>Engagement and attainment across classes and cohorts.</a:t>
            </a:r>
          </a:p>
        </p:txBody>
      </p:sp>
      <p:sp>
        <p:nvSpPr>
          <p:cNvPr id="7" name="Oval 6"/>
          <p:cNvSpPr/>
          <p:nvPr/>
        </p:nvSpPr>
        <p:spPr>
          <a:xfrm>
            <a:off x="9281160" y="2505456"/>
            <a:ext cx="77724" cy="77724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64040" y="2414016"/>
            <a:ext cx="221284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660"/>
                </a:solidFill>
                <a:latin typeface="Calibri"/>
              </a:rPr>
              <a:t>Identify where students are struggling early.</a:t>
            </a:r>
          </a:p>
        </p:txBody>
      </p:sp>
      <p:sp>
        <p:nvSpPr>
          <p:cNvPr id="9" name="Oval 8"/>
          <p:cNvSpPr/>
          <p:nvPr/>
        </p:nvSpPr>
        <p:spPr>
          <a:xfrm>
            <a:off x="9281160" y="3438144"/>
            <a:ext cx="77724" cy="77724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64040" y="3346704"/>
            <a:ext cx="221284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660"/>
                </a:solidFill>
                <a:latin typeface="Calibri"/>
              </a:rPr>
              <a:t>Exportable evidence for governors and inspections.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9788" y="1746123"/>
            <a:ext cx="8604504" cy="423443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admin-ana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96415"/>
            <a:ext cx="8503920" cy="41338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6660"/>
                </a:solidFill>
                <a:latin typeface="Calibri"/>
              </a:rPr>
              <a:t>StudyAI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1153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6660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B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8892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Calibri"/>
              </a:rPr>
              <a:t>The Teacher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37033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C2410C"/>
                </a:solidFill>
                <a:latin typeface="Calibri"/>
              </a:rPr>
              <a:t>Live screens from the working application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C1B19"/>
                </a:solidFill>
                <a:latin typeface="Calibri"/>
              </a:rPr>
              <a:t>Teacher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2410C"/>
                </a:solidFill>
                <a:latin typeface="Calibri"/>
              </a:rPr>
              <a:t>Teacher — the working day, organised</a:t>
            </a:r>
          </a:p>
        </p:txBody>
      </p:sp>
      <p:sp>
        <p:nvSpPr>
          <p:cNvPr id="5" name="Oval 4"/>
          <p:cNvSpPr/>
          <p:nvPr/>
        </p:nvSpPr>
        <p:spPr>
          <a:xfrm>
            <a:off x="9281160" y="1572768"/>
            <a:ext cx="77724" cy="77724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64040" y="1481328"/>
            <a:ext cx="221284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660"/>
                </a:solidFill>
                <a:latin typeface="Calibri"/>
              </a:rPr>
              <a:t>Classes, materials and exams in a single landing view.</a:t>
            </a:r>
          </a:p>
        </p:txBody>
      </p:sp>
      <p:sp>
        <p:nvSpPr>
          <p:cNvPr id="7" name="Oval 6"/>
          <p:cNvSpPr/>
          <p:nvPr/>
        </p:nvSpPr>
        <p:spPr>
          <a:xfrm>
            <a:off x="9281160" y="2505456"/>
            <a:ext cx="77724" cy="77724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64040" y="2414016"/>
            <a:ext cx="221284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660"/>
                </a:solidFill>
                <a:latin typeface="Calibri"/>
              </a:rPr>
              <a:t>Designed to reach any task within one or two clicks.</a:t>
            </a:r>
          </a:p>
        </p:txBody>
      </p:sp>
      <p:sp>
        <p:nvSpPr>
          <p:cNvPr id="9" name="Oval 8"/>
          <p:cNvSpPr/>
          <p:nvPr/>
        </p:nvSpPr>
        <p:spPr>
          <a:xfrm>
            <a:off x="9281160" y="3438144"/>
            <a:ext cx="77724" cy="77724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64040" y="3346704"/>
            <a:ext cx="221284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660"/>
                </a:solidFill>
                <a:latin typeface="Calibri"/>
              </a:rPr>
              <a:t>No administrative clutter that teachers do not need.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9788" y="1982343"/>
            <a:ext cx="8604504" cy="376199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teacher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32635"/>
            <a:ext cx="8503920" cy="366141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6660"/>
                </a:solidFill>
                <a:latin typeface="Calibri"/>
              </a:rPr>
              <a:t>StudyAI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1153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6660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C1B19"/>
                </a:solidFill>
                <a:latin typeface="Calibri"/>
              </a:rPr>
              <a:t>My Classes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2410C"/>
                </a:solidFill>
                <a:latin typeface="Calibri"/>
              </a:rPr>
              <a:t>Teacher — class roster</a:t>
            </a:r>
          </a:p>
        </p:txBody>
      </p:sp>
      <p:sp>
        <p:nvSpPr>
          <p:cNvPr id="5" name="Oval 4"/>
          <p:cNvSpPr/>
          <p:nvPr/>
        </p:nvSpPr>
        <p:spPr>
          <a:xfrm>
            <a:off x="9281160" y="1572768"/>
            <a:ext cx="77724" cy="77724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64040" y="1481328"/>
            <a:ext cx="221284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660"/>
                </a:solidFill>
                <a:latin typeface="Calibri"/>
              </a:rPr>
              <a:t>Every class the teacher is responsible for.</a:t>
            </a:r>
          </a:p>
        </p:txBody>
      </p:sp>
      <p:sp>
        <p:nvSpPr>
          <p:cNvPr id="7" name="Oval 6"/>
          <p:cNvSpPr/>
          <p:nvPr/>
        </p:nvSpPr>
        <p:spPr>
          <a:xfrm>
            <a:off x="9281160" y="2505456"/>
            <a:ext cx="77724" cy="77724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64040" y="2414016"/>
            <a:ext cx="221284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660"/>
                </a:solidFill>
                <a:latin typeface="Calibri"/>
              </a:rPr>
              <a:t>Drill into a class for its students and materials.</a:t>
            </a:r>
          </a:p>
        </p:txBody>
      </p:sp>
      <p:sp>
        <p:nvSpPr>
          <p:cNvPr id="9" name="Oval 8"/>
          <p:cNvSpPr/>
          <p:nvPr/>
        </p:nvSpPr>
        <p:spPr>
          <a:xfrm>
            <a:off x="9281160" y="3438144"/>
            <a:ext cx="77724" cy="77724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64040" y="3346704"/>
            <a:ext cx="221284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660"/>
                </a:solidFill>
                <a:latin typeface="Calibri"/>
              </a:rPr>
              <a:t>Invite codes let students self-enrol securely.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9788" y="1982343"/>
            <a:ext cx="8604504" cy="376199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teacher-clas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32635"/>
            <a:ext cx="8503920" cy="366141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6660"/>
                </a:solidFill>
                <a:latin typeface="Calibri"/>
              </a:rPr>
              <a:t>StudyAI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1153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6660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C1B19"/>
                </a:solidFill>
                <a:latin typeface="Calibri"/>
              </a:rPr>
              <a:t>Class Detail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2410C"/>
                </a:solidFill>
                <a:latin typeface="Calibri"/>
              </a:rPr>
              <a:t>Teacher — inside a class</a:t>
            </a:r>
          </a:p>
        </p:txBody>
      </p:sp>
      <p:sp>
        <p:nvSpPr>
          <p:cNvPr id="5" name="Oval 4"/>
          <p:cNvSpPr/>
          <p:nvPr/>
        </p:nvSpPr>
        <p:spPr>
          <a:xfrm>
            <a:off x="9281160" y="1572768"/>
            <a:ext cx="77724" cy="77724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64040" y="1481328"/>
            <a:ext cx="221284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660"/>
                </a:solidFill>
                <a:latin typeface="Calibri"/>
              </a:rPr>
              <a:t>Enrolled students, attached materials and assigned exams.</a:t>
            </a:r>
          </a:p>
        </p:txBody>
      </p:sp>
      <p:sp>
        <p:nvSpPr>
          <p:cNvPr id="7" name="Oval 6"/>
          <p:cNvSpPr/>
          <p:nvPr/>
        </p:nvSpPr>
        <p:spPr>
          <a:xfrm>
            <a:off x="9281160" y="2505456"/>
            <a:ext cx="77724" cy="77724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64040" y="2414016"/>
            <a:ext cx="221284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660"/>
                </a:solidFill>
                <a:latin typeface="Calibri"/>
              </a:rPr>
              <a:t>One place to manage everything for that group.</a:t>
            </a:r>
          </a:p>
        </p:txBody>
      </p:sp>
      <p:sp>
        <p:nvSpPr>
          <p:cNvPr id="9" name="Oval 8"/>
          <p:cNvSpPr/>
          <p:nvPr/>
        </p:nvSpPr>
        <p:spPr>
          <a:xfrm>
            <a:off x="9281160" y="3438144"/>
            <a:ext cx="77724" cy="77724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64040" y="3346704"/>
            <a:ext cx="221284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660"/>
                </a:solidFill>
                <a:latin typeface="Calibri"/>
              </a:rPr>
              <a:t>Changes are reflected instantly on student dashboards.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9788" y="1982343"/>
            <a:ext cx="8604504" cy="376199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teacher-class-sh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32635"/>
            <a:ext cx="8503920" cy="366141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6660"/>
                </a:solidFill>
                <a:latin typeface="Calibri"/>
              </a:rPr>
              <a:t>StudyAI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1153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6660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C1B19"/>
                </a:solidFill>
                <a:latin typeface="Calibri"/>
              </a:rPr>
              <a:t>Teaching Materials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2410C"/>
                </a:solidFill>
                <a:latin typeface="Calibri"/>
              </a:rPr>
              <a:t>Teacher — the content library</a:t>
            </a:r>
          </a:p>
        </p:txBody>
      </p:sp>
      <p:sp>
        <p:nvSpPr>
          <p:cNvPr id="5" name="Oval 4"/>
          <p:cNvSpPr/>
          <p:nvPr/>
        </p:nvSpPr>
        <p:spPr>
          <a:xfrm>
            <a:off x="9281160" y="1572768"/>
            <a:ext cx="77724" cy="77724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64040" y="1481328"/>
            <a:ext cx="221284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660"/>
                </a:solidFill>
                <a:latin typeface="Calibri"/>
              </a:rPr>
              <a:t>Upload or write notes, then reuse them across classes.</a:t>
            </a:r>
          </a:p>
        </p:txBody>
      </p:sp>
      <p:sp>
        <p:nvSpPr>
          <p:cNvPr id="7" name="Oval 6"/>
          <p:cNvSpPr/>
          <p:nvPr/>
        </p:nvSpPr>
        <p:spPr>
          <a:xfrm>
            <a:off x="9281160" y="2505456"/>
            <a:ext cx="77724" cy="77724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64040" y="2414016"/>
            <a:ext cx="221284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660"/>
                </a:solidFill>
                <a:latin typeface="Calibri"/>
              </a:rPr>
              <a:t>Draft, review and published states keep quality controlled.</a:t>
            </a:r>
          </a:p>
        </p:txBody>
      </p:sp>
      <p:sp>
        <p:nvSpPr>
          <p:cNvPr id="9" name="Oval 8"/>
          <p:cNvSpPr/>
          <p:nvPr/>
        </p:nvSpPr>
        <p:spPr>
          <a:xfrm>
            <a:off x="9281160" y="3438144"/>
            <a:ext cx="77724" cy="77724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64040" y="3346704"/>
            <a:ext cx="221284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660"/>
                </a:solidFill>
                <a:latin typeface="Calibri"/>
              </a:rPr>
              <a:t>Materials are the raw input for AI generation.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9788" y="1982343"/>
            <a:ext cx="8604504" cy="376199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teacher-materi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32635"/>
            <a:ext cx="8503920" cy="366141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6660"/>
                </a:solidFill>
                <a:latin typeface="Calibri"/>
              </a:rPr>
              <a:t>StudyAI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1153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6660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C1B19"/>
                </a:solidFill>
                <a:latin typeface="Calibri"/>
              </a:rPr>
              <a:t>AI Generation — The Core 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2410C"/>
                </a:solidFill>
                <a:latin typeface="Calibri"/>
              </a:rPr>
              <a:t>Teacher — one note becomes a full study pack</a:t>
            </a:r>
          </a:p>
        </p:txBody>
      </p:sp>
      <p:sp>
        <p:nvSpPr>
          <p:cNvPr id="5" name="Oval 4"/>
          <p:cNvSpPr/>
          <p:nvPr/>
        </p:nvSpPr>
        <p:spPr>
          <a:xfrm>
            <a:off x="9281160" y="1572768"/>
            <a:ext cx="77724" cy="77724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64040" y="1481328"/>
            <a:ext cx="221284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660"/>
                </a:solidFill>
                <a:latin typeface="Calibri"/>
              </a:rPr>
              <a:t>From a single material, generate flashcards, questions, study guides and images.</a:t>
            </a:r>
          </a:p>
        </p:txBody>
      </p:sp>
      <p:sp>
        <p:nvSpPr>
          <p:cNvPr id="7" name="Oval 6"/>
          <p:cNvSpPr/>
          <p:nvPr/>
        </p:nvSpPr>
        <p:spPr>
          <a:xfrm>
            <a:off x="9281160" y="2505456"/>
            <a:ext cx="77724" cy="77724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64040" y="2414016"/>
            <a:ext cx="221284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660"/>
                </a:solidFill>
                <a:latin typeface="Calibri"/>
              </a:rPr>
              <a:t>Counters show exactly what has been produced so far.</a:t>
            </a:r>
          </a:p>
        </p:txBody>
      </p:sp>
      <p:sp>
        <p:nvSpPr>
          <p:cNvPr id="9" name="Oval 8"/>
          <p:cNvSpPr/>
          <p:nvPr/>
        </p:nvSpPr>
        <p:spPr>
          <a:xfrm>
            <a:off x="9281160" y="3438144"/>
            <a:ext cx="77724" cy="77724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64040" y="3346704"/>
            <a:ext cx="221284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660"/>
                </a:solidFill>
                <a:latin typeface="Calibri"/>
              </a:rPr>
              <a:t>Teacher reviews and approves before students ever see it.</a:t>
            </a:r>
          </a:p>
        </p:txBody>
      </p:sp>
      <p:sp>
        <p:nvSpPr>
          <p:cNvPr id="11" name="Oval 10"/>
          <p:cNvSpPr/>
          <p:nvPr/>
        </p:nvSpPr>
        <p:spPr>
          <a:xfrm>
            <a:off x="9281160" y="4370832"/>
            <a:ext cx="77724" cy="77724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64040" y="4279392"/>
            <a:ext cx="221284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660"/>
                </a:solidFill>
                <a:latin typeface="Calibri"/>
              </a:rPr>
              <a:t>Hours of preparation compressed into a few minutes.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9788" y="1893760"/>
            <a:ext cx="8604504" cy="393915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teacher-mater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44052"/>
            <a:ext cx="8503920" cy="383857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6660"/>
                </a:solidFill>
                <a:latin typeface="Calibri"/>
              </a:rPr>
              <a:t>StudyAI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1153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6660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C1B19"/>
                </a:solidFill>
                <a:latin typeface="Calibri"/>
              </a:rPr>
              <a:t>Exams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2410C"/>
                </a:solidFill>
                <a:latin typeface="Calibri"/>
              </a:rPr>
              <a:t>Teacher — assessment management</a:t>
            </a:r>
          </a:p>
        </p:txBody>
      </p:sp>
      <p:sp>
        <p:nvSpPr>
          <p:cNvPr id="5" name="Oval 4"/>
          <p:cNvSpPr/>
          <p:nvPr/>
        </p:nvSpPr>
        <p:spPr>
          <a:xfrm>
            <a:off x="9281160" y="1572768"/>
            <a:ext cx="77724" cy="77724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64040" y="1481328"/>
            <a:ext cx="221284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660"/>
                </a:solidFill>
                <a:latin typeface="Calibri"/>
              </a:rPr>
              <a:t>Build exams with duration, pass mark and publication state.</a:t>
            </a:r>
          </a:p>
        </p:txBody>
      </p:sp>
      <p:sp>
        <p:nvSpPr>
          <p:cNvPr id="7" name="Oval 6"/>
          <p:cNvSpPr/>
          <p:nvPr/>
        </p:nvSpPr>
        <p:spPr>
          <a:xfrm>
            <a:off x="9281160" y="2505456"/>
            <a:ext cx="77724" cy="77724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64040" y="2414016"/>
            <a:ext cx="221284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660"/>
                </a:solidFill>
                <a:latin typeface="Calibri"/>
              </a:rPr>
              <a:t>Draft until deliberately published to the class.</a:t>
            </a:r>
          </a:p>
        </p:txBody>
      </p:sp>
      <p:sp>
        <p:nvSpPr>
          <p:cNvPr id="9" name="Oval 8"/>
          <p:cNvSpPr/>
          <p:nvPr/>
        </p:nvSpPr>
        <p:spPr>
          <a:xfrm>
            <a:off x="9281160" y="3438144"/>
            <a:ext cx="77724" cy="77724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64040" y="3346704"/>
            <a:ext cx="221284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660"/>
                </a:solidFill>
                <a:latin typeface="Calibri"/>
              </a:rPr>
              <a:t>Results feed directly into analytics.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9788" y="1982343"/>
            <a:ext cx="8604504" cy="376199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teacher-ex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32635"/>
            <a:ext cx="8503920" cy="366141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6660"/>
                </a:solidFill>
                <a:latin typeface="Calibri"/>
              </a:rPr>
              <a:t>StudyAI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1153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6660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C1B19"/>
                </a:solidFill>
                <a:latin typeface="Calibri"/>
              </a:rPr>
              <a:t>Exam Detail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2410C"/>
                </a:solidFill>
                <a:latin typeface="Calibri"/>
              </a:rPr>
              <a:t>Teacher — question-level control</a:t>
            </a:r>
          </a:p>
        </p:txBody>
      </p:sp>
      <p:sp>
        <p:nvSpPr>
          <p:cNvPr id="5" name="Oval 4"/>
          <p:cNvSpPr/>
          <p:nvPr/>
        </p:nvSpPr>
        <p:spPr>
          <a:xfrm>
            <a:off x="9281160" y="1572768"/>
            <a:ext cx="77724" cy="77724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64040" y="1481328"/>
            <a:ext cx="221284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660"/>
                </a:solidFill>
                <a:latin typeface="Calibri"/>
              </a:rPr>
              <a:t>Multiple-choice and written questions with per-question marks.</a:t>
            </a:r>
          </a:p>
        </p:txBody>
      </p:sp>
      <p:sp>
        <p:nvSpPr>
          <p:cNvPr id="7" name="Oval 6"/>
          <p:cNvSpPr/>
          <p:nvPr/>
        </p:nvSpPr>
        <p:spPr>
          <a:xfrm>
            <a:off x="9281160" y="2505456"/>
            <a:ext cx="77724" cy="77724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64040" y="2414016"/>
            <a:ext cx="221284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660"/>
                </a:solidFill>
                <a:latin typeface="Calibri"/>
              </a:rPr>
              <a:t>Reorder, edit and weight questions before publishing.</a:t>
            </a:r>
          </a:p>
        </p:txBody>
      </p:sp>
      <p:sp>
        <p:nvSpPr>
          <p:cNvPr id="9" name="Oval 8"/>
          <p:cNvSpPr/>
          <p:nvPr/>
        </p:nvSpPr>
        <p:spPr>
          <a:xfrm>
            <a:off x="9281160" y="3438144"/>
            <a:ext cx="77724" cy="77724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64040" y="3346704"/>
            <a:ext cx="221284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660"/>
                </a:solidFill>
                <a:latin typeface="Calibri"/>
              </a:rPr>
              <a:t>Pull ready-made questions from the shared bank.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9788" y="1421320"/>
            <a:ext cx="8604504" cy="488403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teacher-exam-sh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71612"/>
            <a:ext cx="8503920" cy="478345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6660"/>
                </a:solidFill>
                <a:latin typeface="Calibri"/>
              </a:rPr>
              <a:t>StudyAI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1153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6660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C1B19"/>
                </a:solidFill>
                <a:latin typeface="Calibri"/>
              </a:rPr>
              <a:t>Question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2410C"/>
                </a:solidFill>
                <a:latin typeface="Calibri"/>
              </a:rPr>
              <a:t>Teacher — reusable assessment library</a:t>
            </a:r>
          </a:p>
        </p:txBody>
      </p:sp>
      <p:sp>
        <p:nvSpPr>
          <p:cNvPr id="5" name="Oval 4"/>
          <p:cNvSpPr/>
          <p:nvPr/>
        </p:nvSpPr>
        <p:spPr>
          <a:xfrm>
            <a:off x="9281160" y="1572768"/>
            <a:ext cx="77724" cy="77724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64040" y="1481328"/>
            <a:ext cx="221284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660"/>
                </a:solidFill>
                <a:latin typeface="Calibri"/>
              </a:rPr>
              <a:t>Questions tagged by subject and difficulty.</a:t>
            </a:r>
          </a:p>
        </p:txBody>
      </p:sp>
      <p:sp>
        <p:nvSpPr>
          <p:cNvPr id="7" name="Oval 6"/>
          <p:cNvSpPr/>
          <p:nvPr/>
        </p:nvSpPr>
        <p:spPr>
          <a:xfrm>
            <a:off x="9281160" y="2505456"/>
            <a:ext cx="77724" cy="77724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64040" y="2414016"/>
            <a:ext cx="221284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660"/>
                </a:solidFill>
                <a:latin typeface="Calibri"/>
              </a:rPr>
              <a:t>Shared across the school so staff build on each other's work.</a:t>
            </a:r>
          </a:p>
        </p:txBody>
      </p:sp>
      <p:sp>
        <p:nvSpPr>
          <p:cNvPr id="9" name="Oval 8"/>
          <p:cNvSpPr/>
          <p:nvPr/>
        </p:nvSpPr>
        <p:spPr>
          <a:xfrm>
            <a:off x="9281160" y="3438144"/>
            <a:ext cx="77724" cy="77724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64040" y="3346704"/>
            <a:ext cx="221284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660"/>
                </a:solidFill>
                <a:latin typeface="Calibri"/>
              </a:rPr>
              <a:t>AI-generated questions land here for review and reuse.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9788" y="1982343"/>
            <a:ext cx="8604504" cy="376199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teacher-qba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32635"/>
            <a:ext cx="8503920" cy="366141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6660"/>
                </a:solidFill>
                <a:latin typeface="Calibri"/>
              </a:rPr>
              <a:t>StudyAI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1153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6660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B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8892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Calibri"/>
              </a:rPr>
              <a:t>The Student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37033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C2410C"/>
                </a:solidFill>
                <a:latin typeface="Calibri"/>
              </a:rPr>
              <a:t>Live screens from the working application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C1B19"/>
                </a:solidFill>
                <a:latin typeface="Calibri"/>
              </a:rPr>
              <a:t>Student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2410C"/>
                </a:solidFill>
                <a:latin typeface="Calibri"/>
              </a:rPr>
              <a:t>Student — what to do next, clearly</a:t>
            </a:r>
          </a:p>
        </p:txBody>
      </p:sp>
      <p:sp>
        <p:nvSpPr>
          <p:cNvPr id="5" name="Oval 4"/>
          <p:cNvSpPr/>
          <p:nvPr/>
        </p:nvSpPr>
        <p:spPr>
          <a:xfrm>
            <a:off x="9281160" y="1572768"/>
            <a:ext cx="77724" cy="77724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64040" y="1481328"/>
            <a:ext cx="221284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660"/>
                </a:solidFill>
                <a:latin typeface="Calibri"/>
              </a:rPr>
              <a:t>Enrolled classes, flashcards due and upcoming exams up front.</a:t>
            </a:r>
          </a:p>
        </p:txBody>
      </p:sp>
      <p:sp>
        <p:nvSpPr>
          <p:cNvPr id="7" name="Oval 6"/>
          <p:cNvSpPr/>
          <p:nvPr/>
        </p:nvSpPr>
        <p:spPr>
          <a:xfrm>
            <a:off x="9281160" y="2505456"/>
            <a:ext cx="77724" cy="77724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64040" y="2414016"/>
            <a:ext cx="221284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660"/>
                </a:solidFill>
                <a:latin typeface="Calibri"/>
              </a:rPr>
              <a:t>Directs attention to the work that actually matters today.</a:t>
            </a:r>
          </a:p>
        </p:txBody>
      </p:sp>
      <p:sp>
        <p:nvSpPr>
          <p:cNvPr id="9" name="Oval 8"/>
          <p:cNvSpPr/>
          <p:nvPr/>
        </p:nvSpPr>
        <p:spPr>
          <a:xfrm>
            <a:off x="9281160" y="3438144"/>
            <a:ext cx="77724" cy="77724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64040" y="3346704"/>
            <a:ext cx="221284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660"/>
                </a:solidFill>
                <a:latin typeface="Calibri"/>
              </a:rPr>
              <a:t>Recent results give immediate feedback on progress.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9788" y="1781556"/>
            <a:ext cx="8604504" cy="41635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student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31848"/>
            <a:ext cx="8503920" cy="406298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6660"/>
                </a:solidFill>
                <a:latin typeface="Calibri"/>
              </a:rPr>
              <a:t>StudyAI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1153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6660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C1B19"/>
                </a:solidFill>
                <a:latin typeface="Calibri"/>
              </a:rPr>
              <a:t>Enrolled Classes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2410C"/>
                </a:solidFill>
                <a:latin typeface="Calibri"/>
              </a:rPr>
              <a:t>Student — their timetable</a:t>
            </a:r>
          </a:p>
        </p:txBody>
      </p:sp>
      <p:sp>
        <p:nvSpPr>
          <p:cNvPr id="5" name="Oval 4"/>
          <p:cNvSpPr/>
          <p:nvPr/>
        </p:nvSpPr>
        <p:spPr>
          <a:xfrm>
            <a:off x="9281160" y="1572768"/>
            <a:ext cx="77724" cy="77724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64040" y="1481328"/>
            <a:ext cx="221284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660"/>
                </a:solidFill>
                <a:latin typeface="Calibri"/>
              </a:rPr>
              <a:t>Every class the student belongs to.</a:t>
            </a:r>
          </a:p>
        </p:txBody>
      </p:sp>
      <p:sp>
        <p:nvSpPr>
          <p:cNvPr id="7" name="Oval 6"/>
          <p:cNvSpPr/>
          <p:nvPr/>
        </p:nvSpPr>
        <p:spPr>
          <a:xfrm>
            <a:off x="9281160" y="2505456"/>
            <a:ext cx="77724" cy="77724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64040" y="2414016"/>
            <a:ext cx="221284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660"/>
                </a:solidFill>
                <a:latin typeface="Calibri"/>
              </a:rPr>
              <a:t>Join new classes with a teacher-issued invite code.</a:t>
            </a:r>
          </a:p>
        </p:txBody>
      </p:sp>
      <p:sp>
        <p:nvSpPr>
          <p:cNvPr id="9" name="Oval 8"/>
          <p:cNvSpPr/>
          <p:nvPr/>
        </p:nvSpPr>
        <p:spPr>
          <a:xfrm>
            <a:off x="9281160" y="3438144"/>
            <a:ext cx="77724" cy="77724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64040" y="3346704"/>
            <a:ext cx="221284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660"/>
                </a:solidFill>
                <a:latin typeface="Calibri"/>
              </a:rPr>
              <a:t>Access to materials follows enrolment automatically.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9788" y="1982343"/>
            <a:ext cx="8604504" cy="376199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student-clas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32635"/>
            <a:ext cx="8503920" cy="366141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6660"/>
                </a:solidFill>
                <a:latin typeface="Calibri"/>
              </a:rPr>
              <a:t>StudyAI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1153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6660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C1B19"/>
                </a:solidFill>
                <a:latin typeface="Calibri"/>
              </a:rPr>
              <a:t>Class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2410C"/>
                </a:solidFill>
                <a:latin typeface="Calibri"/>
              </a:rPr>
              <a:t>Student — inside a class</a:t>
            </a:r>
          </a:p>
        </p:txBody>
      </p:sp>
      <p:sp>
        <p:nvSpPr>
          <p:cNvPr id="5" name="Oval 4"/>
          <p:cNvSpPr/>
          <p:nvPr/>
        </p:nvSpPr>
        <p:spPr>
          <a:xfrm>
            <a:off x="9281160" y="1572768"/>
            <a:ext cx="77724" cy="77724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64040" y="1481328"/>
            <a:ext cx="221284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660"/>
                </a:solidFill>
                <a:latin typeface="Calibri"/>
              </a:rPr>
              <a:t>Materials published by the teacher for that class.</a:t>
            </a:r>
          </a:p>
        </p:txBody>
      </p:sp>
      <p:sp>
        <p:nvSpPr>
          <p:cNvPr id="7" name="Oval 6"/>
          <p:cNvSpPr/>
          <p:nvPr/>
        </p:nvSpPr>
        <p:spPr>
          <a:xfrm>
            <a:off x="9281160" y="2505456"/>
            <a:ext cx="77724" cy="77724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64040" y="2414016"/>
            <a:ext cx="221284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660"/>
                </a:solidFill>
                <a:latin typeface="Calibri"/>
              </a:rPr>
              <a:t>Exams assigned to the group.</a:t>
            </a:r>
          </a:p>
        </p:txBody>
      </p:sp>
      <p:sp>
        <p:nvSpPr>
          <p:cNvPr id="9" name="Oval 8"/>
          <p:cNvSpPr/>
          <p:nvPr/>
        </p:nvSpPr>
        <p:spPr>
          <a:xfrm>
            <a:off x="9281160" y="3438144"/>
            <a:ext cx="77724" cy="77724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64040" y="3346704"/>
            <a:ext cx="221284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660"/>
                </a:solidFill>
                <a:latin typeface="Calibri"/>
              </a:rPr>
              <a:t>Only ever shows approved, published content.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9788" y="1982343"/>
            <a:ext cx="8604504" cy="376199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student-class-sh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32635"/>
            <a:ext cx="8503920" cy="366141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6660"/>
                </a:solidFill>
                <a:latin typeface="Calibri"/>
              </a:rPr>
              <a:t>StudyAI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1153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6660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C1B19"/>
                </a:solidFill>
                <a:latin typeface="Calibri"/>
              </a:rPr>
              <a:t>Taking Exams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2410C"/>
                </a:solidFill>
                <a:latin typeface="Calibri"/>
              </a:rPr>
              <a:t>Student — online assessment</a:t>
            </a:r>
          </a:p>
        </p:txBody>
      </p:sp>
      <p:sp>
        <p:nvSpPr>
          <p:cNvPr id="5" name="Oval 4"/>
          <p:cNvSpPr/>
          <p:nvPr/>
        </p:nvSpPr>
        <p:spPr>
          <a:xfrm>
            <a:off x="9281160" y="1572768"/>
            <a:ext cx="77724" cy="77724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64040" y="1481328"/>
            <a:ext cx="221284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660"/>
                </a:solidFill>
                <a:latin typeface="Calibri"/>
              </a:rPr>
              <a:t>Timed exams taken directly in the browser.</a:t>
            </a:r>
          </a:p>
        </p:txBody>
      </p:sp>
      <p:sp>
        <p:nvSpPr>
          <p:cNvPr id="7" name="Oval 6"/>
          <p:cNvSpPr/>
          <p:nvPr/>
        </p:nvSpPr>
        <p:spPr>
          <a:xfrm>
            <a:off x="9281160" y="2505456"/>
            <a:ext cx="77724" cy="77724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64040" y="2414016"/>
            <a:ext cx="221284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660"/>
                </a:solidFill>
                <a:latin typeface="Calibri"/>
              </a:rPr>
              <a:t>Automatic marking with instant results.</a:t>
            </a:r>
          </a:p>
        </p:txBody>
      </p:sp>
      <p:sp>
        <p:nvSpPr>
          <p:cNvPr id="9" name="Oval 8"/>
          <p:cNvSpPr/>
          <p:nvPr/>
        </p:nvSpPr>
        <p:spPr>
          <a:xfrm>
            <a:off x="9281160" y="3438144"/>
            <a:ext cx="77724" cy="77724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64040" y="3346704"/>
            <a:ext cx="221284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660"/>
                </a:solidFill>
                <a:latin typeface="Calibri"/>
              </a:rPr>
              <a:t>Attempts are recorded for the teacher to review.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9788" y="1982343"/>
            <a:ext cx="8604504" cy="376199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student-ex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32635"/>
            <a:ext cx="8503920" cy="366141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6660"/>
                </a:solidFill>
                <a:latin typeface="Calibri"/>
              </a:rPr>
              <a:t>StudyAI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1153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6660"/>
                </a:solidFill>
                <a:latin typeface="Calibr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C1B19"/>
                </a:solidFill>
                <a:latin typeface="Calibri"/>
              </a:rPr>
              <a:t>Flashcards &amp; Spaced Repetition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2410C"/>
                </a:solidFill>
                <a:latin typeface="Calibri"/>
              </a:rPr>
              <a:t>Student — retention, not cramming</a:t>
            </a:r>
          </a:p>
        </p:txBody>
      </p:sp>
      <p:sp>
        <p:nvSpPr>
          <p:cNvPr id="5" name="Oval 4"/>
          <p:cNvSpPr/>
          <p:nvPr/>
        </p:nvSpPr>
        <p:spPr>
          <a:xfrm>
            <a:off x="9281160" y="1572768"/>
            <a:ext cx="77724" cy="77724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64040" y="1481328"/>
            <a:ext cx="221284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660"/>
                </a:solidFill>
                <a:latin typeface="Calibri"/>
              </a:rPr>
              <a:t>Cards scheduled by a spaced-repetition algorithm.</a:t>
            </a:r>
          </a:p>
        </p:txBody>
      </p:sp>
      <p:sp>
        <p:nvSpPr>
          <p:cNvPr id="7" name="Oval 6"/>
          <p:cNvSpPr/>
          <p:nvPr/>
        </p:nvSpPr>
        <p:spPr>
          <a:xfrm>
            <a:off x="9281160" y="2505456"/>
            <a:ext cx="77724" cy="77724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64040" y="2414016"/>
            <a:ext cx="221284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660"/>
                </a:solidFill>
                <a:latin typeface="Calibri"/>
              </a:rPr>
              <a:t>Difficult cards return sooner; mastered cards recede.</a:t>
            </a:r>
          </a:p>
        </p:txBody>
      </p:sp>
      <p:sp>
        <p:nvSpPr>
          <p:cNvPr id="9" name="Oval 8"/>
          <p:cNvSpPr/>
          <p:nvPr/>
        </p:nvSpPr>
        <p:spPr>
          <a:xfrm>
            <a:off x="9281160" y="3438144"/>
            <a:ext cx="77724" cy="77724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64040" y="3346704"/>
            <a:ext cx="221284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660"/>
                </a:solidFill>
                <a:latin typeface="Calibri"/>
              </a:rPr>
              <a:t>Built on the material their own teacher published.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9788" y="1982343"/>
            <a:ext cx="8604504" cy="376199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student-flashcar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32635"/>
            <a:ext cx="8503920" cy="366141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6660"/>
                </a:solidFill>
                <a:latin typeface="Calibri"/>
              </a:rPr>
              <a:t>StudyAI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1153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6660"/>
                </a:solidFill>
                <a:latin typeface="Calibr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C1B19"/>
                </a:solidFill>
                <a:latin typeface="Calibri"/>
              </a:rPr>
              <a:t>Security &amp; Access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6B6660"/>
                </a:solidFill>
                <a:latin typeface="Calibri"/>
              </a:rPr>
              <a:t>Every screen in this deck sits behind authentication and a role check.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508" y="1824227"/>
            <a:ext cx="5221224" cy="341477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74519"/>
            <a:ext cx="5120640" cy="33141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63640" y="1874519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C1B19"/>
                </a:solidFill>
                <a:latin typeface="Calibri"/>
              </a:rPr>
              <a:t>Role-based access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2221991"/>
            <a:ext cx="5212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660"/>
                </a:solidFill>
                <a:latin typeface="Calibri"/>
              </a:rPr>
              <a:t>Teachers cannot reach admin screens; students cannot reach staff tools. Enforced server-side, not hidden in the interface.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2990087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C1B19"/>
                </a:solidFill>
                <a:latin typeface="Calibri"/>
              </a:rPr>
              <a:t>Tenant isolation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3337559"/>
            <a:ext cx="5212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660"/>
                </a:solidFill>
                <a:latin typeface="Calibri"/>
              </a:rPr>
              <a:t>Every query is scoped to the signed-in user's school. One school can never see another's data.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4105655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C1B19"/>
                </a:solidFill>
                <a:latin typeface="Calibri"/>
              </a:rPr>
              <a:t>Content approval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4453127"/>
            <a:ext cx="5212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660"/>
                </a:solidFill>
                <a:latin typeface="Calibri"/>
              </a:rPr>
              <a:t>AI output is held in draft and must be reviewed by a teacher before any student sees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5221223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C1B19"/>
                </a:solidFill>
                <a:latin typeface="Calibri"/>
              </a:rPr>
              <a:t>Audit of AI spend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5568695"/>
            <a:ext cx="5212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660"/>
                </a:solidFill>
                <a:latin typeface="Calibri"/>
              </a:rPr>
              <a:t>Each AI request is attributed to a user and school, with enforced budget ceilings.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6660"/>
                </a:solidFill>
                <a:latin typeface="Calibri"/>
              </a:rPr>
              <a:t>StudyAI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1153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6660"/>
                </a:solidFill>
                <a:latin typeface="Calibri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C1B19"/>
                </a:solidFill>
                <a:latin typeface="Calibri"/>
              </a:rPr>
              <a:t>Why Schools Choose StudyAI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508760"/>
            <a:ext cx="525780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978408" y="1783080"/>
            <a:ext cx="457200" cy="50292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201168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C1B19"/>
                </a:solidFill>
                <a:latin typeface="Calibri"/>
              </a:rPr>
              <a:t>Saves teacher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2468880"/>
            <a:ext cx="46634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6B6660"/>
                </a:solidFill>
                <a:latin typeface="Calibri"/>
              </a:rPr>
              <a:t>A single set of notes becomes flashcards, exam questions and a study guide in minutes rather than hours of manual preparation.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08760"/>
            <a:ext cx="525780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6510528" y="1783080"/>
            <a:ext cx="457200" cy="50292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0528" y="201168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C1B19"/>
                </a:solidFill>
                <a:latin typeface="Calibri"/>
              </a:rPr>
              <a:t>Keeps teachers in charge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0528" y="2468880"/>
            <a:ext cx="46634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6B6660"/>
                </a:solidFill>
                <a:latin typeface="Calibri"/>
              </a:rPr>
              <a:t>Nothing generated by AI reaches a student until a teacher has reviewed and published it. Quality stays with the professional.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657600"/>
            <a:ext cx="525780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978408" y="3931920"/>
            <a:ext cx="457200" cy="50292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8" y="416052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C1B19"/>
                </a:solidFill>
                <a:latin typeface="Calibri"/>
              </a:rPr>
              <a:t>Makes AI spend predictable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" y="4617720"/>
            <a:ext cx="46634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6B6660"/>
                </a:solidFill>
                <a:latin typeface="Calibri"/>
              </a:rPr>
              <a:t>Per-teacher and per-school token budgets with hard limits, so the cost of AI is known in advance rather than discovered later.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657600"/>
            <a:ext cx="525780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510528" y="3931920"/>
            <a:ext cx="457200" cy="50292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0528" y="416052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C1B19"/>
                </a:solidFill>
                <a:latin typeface="Calibri"/>
              </a:rPr>
              <a:t>Grows with the institution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8" y="4617720"/>
            <a:ext cx="46634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6B6660"/>
                </a:solidFill>
                <a:latin typeface="Calibri"/>
              </a:rPr>
              <a:t>One deployment serves a single school or an entire multi-academy trust, with complete data separation between tenants.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6660"/>
                </a:solidFill>
                <a:latin typeface="Calibri"/>
              </a:rPr>
              <a:t>StudyAI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1153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6660"/>
                </a:solidFill>
                <a:latin typeface="Calibri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B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FFFFFF"/>
                </a:solidFill>
                <a:latin typeface="Calibri"/>
              </a:rPr>
              <a:t>Ready to see it 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3337560"/>
            <a:ext cx="9144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C9C4BD"/>
                </a:solidFill>
                <a:latin typeface="Calibri"/>
              </a:rPr>
              <a:t>Every screen in this deck is a real screenshot of the working platform —</a:t>
            </a:r>
          </a:p>
          <a:p>
            <a:pPr algn="l">
              <a:lnSpc>
                <a:spcPct val="135000"/>
              </a:lnSpc>
            </a:pPr>
            <a:r>
              <a:rPr sz="1600" b="0">
                <a:solidFill>
                  <a:srgbClr val="C9C4BD"/>
                </a:solidFill>
                <a:latin typeface="Calibri"/>
              </a:rPr>
              <a:t>not a mockup. We can walk through it with your own subjects and classes.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49377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C2410C"/>
                </a:solidFill>
                <a:latin typeface="Calibri"/>
              </a:rPr>
              <a:t>StudyAI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